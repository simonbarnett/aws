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CFFF"/>
    <a:srgbClr val="FE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3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CC253-9345-4A91-819C-6253B5647DD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06505-0686-4BDA-9348-03AB05238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83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06505-0686-4BDA-9348-03AB05238EC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15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F2CA-CD8B-136D-A6E5-1AAA9CD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03948-D294-53F6-4FCD-A69F6973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0985D-13D5-DBAF-476D-B8EF5F63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ECF61-0038-EB0B-0349-B619CE52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F967A-ACF7-6E20-DDC9-B3932A46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56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BD19-A029-EDAA-34B4-0B310893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33236-5598-01D9-FF5D-3F32A277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B88C-2030-612D-1025-8EC087127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66C03-DDD1-4AD5-C196-8A18909D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7B1B1-6D0E-3D97-7E3D-8FFED4EE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2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7D15-BE51-8730-D7E7-72A348BC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99D3F-963A-07A8-2C9F-8B8D4DF74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6EAB-F79A-E5B0-0394-013A8779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436C0-D6A3-6830-8F77-EF9C0A62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F1E44-7DE7-B23F-6CCE-3B80845E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27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33D4-C2A6-3F17-0C16-5A4A5523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3E19A-B703-B790-3EA4-D6837BC99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C45F7-462A-5D08-5BE0-EDD3C71DF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A558F-CE58-45B2-040F-E3FFB9E4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B4D34-D2A0-DBF6-A302-FFAA1880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E6D40-FE8A-E81F-7F33-82B0ECD1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1941-2EF7-A7B4-CCF5-5781F85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E72EB-2081-66C9-03B1-AFBCF4BBA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0B68A-997A-3E0A-5A61-9E48D1594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485BA-5A0D-1B32-3630-6A2809642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06BB0-2615-6B73-AAF8-ACB7FAB28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07876-1A2B-7006-A920-7836866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0F02A-712A-FDEE-B276-05FFBAEB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E6F05-6202-9202-CF43-2BB7048C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6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6A38-3691-75D7-35E1-2FBEEA87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DF778-24B6-F638-A831-C1D7D666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0BD0B-0248-59A6-015D-BF0EA5A4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8AEA6-33CA-A042-19BB-924382A8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01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2A9E3-E84E-FC36-28BF-18C62A9B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283ED-CBE0-7C5D-97C9-08D0BE89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70587-55F0-3EB9-EF7D-1DDA2DE1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9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AF71-E65A-0755-8C41-1AD5FE80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0BF25-B763-2FD6-0D61-EBE40C4F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F5E44-07DA-1CC2-D5DB-65A3B7D72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2AFB7-171A-97DE-C710-364F413B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82F23-5E98-8A72-8896-A2F0D913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47CB-9359-602D-57D7-E83A48F5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88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F8B1-B297-E623-1F88-A0C15957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3A54C-FEC2-3EC0-5DD5-00CA72A2A9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237D8-6807-6078-566A-F2958D69A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3B821-1F3B-824C-4D9B-52499520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83550-D541-E455-57B7-D9287426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2738A-B220-8346-F051-CA3E4E74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01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6397-D8F9-D2E0-73BF-9E415D0A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FDA95-FB8B-89A3-A164-DEA091C10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C0C9-6391-8D5F-6EF5-7354573F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63C8-F379-5115-E93D-3332810E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45AF4-72B0-504E-460A-D9F153D9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3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CEC96-CC5F-F6CC-73E2-8155E39E0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B54D2-EAAD-9800-3AA6-745AB30C0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6BB0D-6DAA-79FC-D52D-89963632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FBBD1-F6A5-2EE3-00F4-C016E252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FFBE-EF03-40B3-7BB7-07910FC8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97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6F4B04-6751-C26C-6BD3-FEBFE5C4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DBEE4-80A4-A600-57B3-49FDFBC2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7B0FD-3B63-7A6C-A850-8F385FD90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16D85-DDA2-4CEA-AB7A-C289A539B204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CAE62-92EC-E31B-C6BB-D6868AEB4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0F438-5167-6705-7F12-87DCE0F18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9897F-2123-4393-8F5A-76DA11908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1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imonBarnett/Madeira-Partners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1B8F-1DA7-65A7-81B8-11AF9D979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35308" y="1122363"/>
            <a:ext cx="9144000" cy="2387600"/>
          </a:xfrm>
        </p:spPr>
        <p:txBody>
          <a:bodyPr/>
          <a:lstStyle/>
          <a:p>
            <a:r>
              <a:rPr lang="en-GB" dirty="0"/>
              <a:t>Club Madeira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C600F-522C-1872-CF4D-D05559FE5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35308" y="3602038"/>
            <a:ext cx="9144000" cy="1655762"/>
          </a:xfrm>
        </p:spPr>
        <p:txBody>
          <a:bodyPr/>
          <a:lstStyle/>
          <a:p>
            <a:r>
              <a:rPr lang="en-GB" dirty="0"/>
              <a:t>On-boarding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311F7-00B0-42E3-D342-89CFEDB61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684" y="1225324"/>
            <a:ext cx="1220016" cy="1220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8CA53F-673B-A76B-08C5-32572FAF4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606" y="0"/>
            <a:ext cx="6188726" cy="82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0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27A7CB-BCFE-6F2B-168D-77A90D2E6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06" y="332139"/>
            <a:ext cx="3334215" cy="2857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6B6B9C-3297-4BC3-1F6F-A038DDAC6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004" y="332140"/>
            <a:ext cx="3334215" cy="28578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73DC66-4666-ED41-9623-193AE4AA0608}"/>
              </a:ext>
            </a:extLst>
          </p:cNvPr>
          <p:cNvSpPr txBox="1"/>
          <p:nvPr/>
        </p:nvSpPr>
        <p:spPr>
          <a:xfrm>
            <a:off x="388906" y="3535680"/>
            <a:ext cx="114141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/>
              <a:t>Community Partners are digital agencies like you!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/>
              <a:t>We send an invite token to the community partner.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/>
              <a:t>The community partner connects via stripe.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/>
              <a:t>The partner hosts their own partner site.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/>
              <a:t>The partner website is branded up as the partner.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CAA092-1643-C26E-C06A-9A782D2D7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126" y="332141"/>
            <a:ext cx="3337748" cy="28609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43D8D0-9E2A-99CF-B4E9-BC4F41640908}"/>
              </a:ext>
            </a:extLst>
          </p:cNvPr>
          <p:cNvSpPr txBox="1"/>
          <p:nvPr/>
        </p:nvSpPr>
        <p:spPr>
          <a:xfrm>
            <a:off x="7026932" y="6541484"/>
            <a:ext cx="5165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5"/>
              </a:rPr>
              <a:t>https://github.com/SimonBarnett/Madeira-Partners/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34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2E1D2A-C6B8-6765-BF76-0AAC04B82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730" y="1144731"/>
            <a:ext cx="3334215" cy="2857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9FC738-91C4-42C3-558A-3453620F7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928" y="1142461"/>
            <a:ext cx="3336864" cy="286016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4F4D7B7-C09E-C637-CE36-994FDF91BE22}"/>
              </a:ext>
            </a:extLst>
          </p:cNvPr>
          <p:cNvGrpSpPr/>
          <p:nvPr/>
        </p:nvGrpSpPr>
        <p:grpSpPr>
          <a:xfrm>
            <a:off x="470262" y="438467"/>
            <a:ext cx="3487485" cy="3459283"/>
            <a:chOff x="470262" y="438467"/>
            <a:chExt cx="3487485" cy="34592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82C3A2-5871-F626-7DEB-9F001944B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262" y="438467"/>
              <a:ext cx="2124891" cy="182133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579393-FFA3-3FF5-C8BD-20CE16CDC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9131" y="2013222"/>
              <a:ext cx="2198616" cy="188452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109A359-5AE7-B7FF-8C31-8E7D9D5DA906}"/>
              </a:ext>
            </a:extLst>
          </p:cNvPr>
          <p:cNvSpPr txBox="1"/>
          <p:nvPr/>
        </p:nvSpPr>
        <p:spPr>
          <a:xfrm>
            <a:off x="505334" y="4238557"/>
            <a:ext cx="116866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The community partner uses their partner site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to send invite tokens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to their communities*</a:t>
            </a:r>
          </a:p>
          <a:p>
            <a:endParaRPr lang="en-GB" sz="2400" dirty="0"/>
          </a:p>
          <a:p>
            <a:r>
              <a:rPr lang="en-GB" sz="2000" dirty="0"/>
              <a:t>*Must be engaged communities with a current membership and minimum 1500 visitors a month.</a:t>
            </a:r>
          </a:p>
        </p:txBody>
      </p:sp>
    </p:spTree>
    <p:extLst>
      <p:ext uri="{BB962C8B-B14F-4D97-AF65-F5344CB8AC3E}">
        <p14:creationId xmlns:p14="http://schemas.microsoft.com/office/powerpoint/2010/main" val="163870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9E2749-0218-4A86-7413-FF30976DD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43" y="335192"/>
            <a:ext cx="3336864" cy="286016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1E1AC2E-2A0C-3E76-C30B-B016740ABC33}"/>
              </a:ext>
            </a:extLst>
          </p:cNvPr>
          <p:cNvGrpSpPr/>
          <p:nvPr/>
        </p:nvGrpSpPr>
        <p:grpSpPr>
          <a:xfrm>
            <a:off x="5372454" y="65226"/>
            <a:ext cx="3919592" cy="1834849"/>
            <a:chOff x="5372454" y="65226"/>
            <a:chExt cx="3919592" cy="18348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6C5113-AD90-8ABF-B4CA-A095B2902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454" y="65226"/>
              <a:ext cx="1910079" cy="163721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92FCD5-EFDB-9610-D870-C4ADCF790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7709" y="327786"/>
              <a:ext cx="1834337" cy="1572289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AAADE5-535D-ED19-2AA3-5AFFFFB8AE8B}"/>
              </a:ext>
            </a:extLst>
          </p:cNvPr>
          <p:cNvGrpSpPr/>
          <p:nvPr/>
        </p:nvGrpSpPr>
        <p:grpSpPr>
          <a:xfrm>
            <a:off x="5372454" y="2528488"/>
            <a:ext cx="3989261" cy="1616518"/>
            <a:chOff x="5372454" y="2528488"/>
            <a:chExt cx="3989261" cy="161651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A40298-181B-EA41-46A5-71F711ACF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7378" y="2572717"/>
              <a:ext cx="1834337" cy="157228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757CAB4-1D55-F930-469A-82CFD7EB2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454" y="2528488"/>
              <a:ext cx="1834338" cy="157229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5D893C8-F419-3CC2-E857-EFB784857100}"/>
              </a:ext>
            </a:extLst>
          </p:cNvPr>
          <p:cNvSpPr txBox="1"/>
          <p:nvPr/>
        </p:nvSpPr>
        <p:spPr>
          <a:xfrm>
            <a:off x="4560683" y="1227908"/>
            <a:ext cx="7713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/>
              <a:t>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F03182-8BDE-EE40-EB96-9837364FE907}"/>
              </a:ext>
            </a:extLst>
          </p:cNvPr>
          <p:cNvSpPr txBox="1"/>
          <p:nvPr/>
        </p:nvSpPr>
        <p:spPr>
          <a:xfrm>
            <a:off x="592183" y="4432663"/>
            <a:ext cx="1082475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When a community connects via stripe: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Their catalogue widget is sent to the community partner to publish on the community website.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marketing report, identifying potential merchants for the community, is sent to the merchant partner.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288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D88B54-3860-A7A1-F1F0-5FE6F6C30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66" y="341640"/>
            <a:ext cx="2844531" cy="2438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134BF7-DB70-F99A-B53A-0E4F2D024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55" y="723843"/>
            <a:ext cx="3334215" cy="2857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AC4BBA-5A85-DE50-8392-384CF107F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66" y="2312803"/>
            <a:ext cx="1415005" cy="1212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3EA4A9-CCAB-668D-6ED9-893857F06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642" y="721573"/>
            <a:ext cx="3336864" cy="2860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363F8A-92EB-619F-D7FF-60986958E50E}"/>
              </a:ext>
            </a:extLst>
          </p:cNvPr>
          <p:cNvSpPr txBox="1"/>
          <p:nvPr/>
        </p:nvSpPr>
        <p:spPr>
          <a:xfrm>
            <a:off x="403766" y="3811012"/>
            <a:ext cx="111700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Merchant partners</a:t>
            </a:r>
            <a:r>
              <a:rPr lang="en-GB" sz="32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use the marketing report for telesales.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send invite tokens to merchants who agree to list products on a community.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Receive the £50 sign-up fee in commission when merchant completes onboarding.</a:t>
            </a:r>
          </a:p>
        </p:txBody>
      </p:sp>
    </p:spTree>
    <p:extLst>
      <p:ext uri="{BB962C8B-B14F-4D97-AF65-F5344CB8AC3E}">
        <p14:creationId xmlns:p14="http://schemas.microsoft.com/office/powerpoint/2010/main" val="286102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19631A-11CA-0949-764D-882B6852A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804" y="135280"/>
            <a:ext cx="3336864" cy="286016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E5CCA8B-D371-DBEB-BF85-A776865E231A}"/>
              </a:ext>
            </a:extLst>
          </p:cNvPr>
          <p:cNvGrpSpPr/>
          <p:nvPr/>
        </p:nvGrpSpPr>
        <p:grpSpPr>
          <a:xfrm>
            <a:off x="7001329" y="213658"/>
            <a:ext cx="2643430" cy="3215342"/>
            <a:chOff x="7001329" y="213658"/>
            <a:chExt cx="2643430" cy="321534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C672A6-296E-32C1-C756-DFF8AF3D2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8426" y="213658"/>
              <a:ext cx="1376333" cy="117971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A8F2456-80BD-D355-5B55-0C0B2DFA9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1329" y="1256833"/>
              <a:ext cx="2534195" cy="217216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DC8E6EF-CF6D-50D4-F9BF-3DBB9DC35CB3}"/>
              </a:ext>
            </a:extLst>
          </p:cNvPr>
          <p:cNvSpPr txBox="1"/>
          <p:nvPr/>
        </p:nvSpPr>
        <p:spPr>
          <a:xfrm>
            <a:off x="321576" y="3504903"/>
            <a:ext cx="116881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Onboarding Merchants list their products by</a:t>
            </a:r>
            <a:r>
              <a:rPr lang="en-GB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providing the read-only parts token from their catalogue (WIX, Woo, </a:t>
            </a:r>
            <a:r>
              <a:rPr lang="en-GB" sz="2800" dirty="0" err="1"/>
              <a:t>Shopifiy</a:t>
            </a:r>
            <a:r>
              <a:rPr lang="en-GB" sz="2800" dirty="0"/>
              <a:t>, Magento etc).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Adding the tracking widget to the &lt;HEAD&gt; of their site (parts without widget are ignored).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Implementing a web-hook in their back end to report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Merchant parts are listed where relevant, on ALL community catalogues.</a:t>
            </a:r>
          </a:p>
          <a:p>
            <a:endParaRPr lang="en-GB" sz="2800" dirty="0"/>
          </a:p>
          <a:p>
            <a:endParaRPr lang="en-GB" sz="2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6E6659-BAF7-16CE-4D85-0D555CCA0331}"/>
              </a:ext>
            </a:extLst>
          </p:cNvPr>
          <p:cNvCxnSpPr/>
          <p:nvPr/>
        </p:nvCxnSpPr>
        <p:spPr>
          <a:xfrm>
            <a:off x="4514849" y="2286816"/>
            <a:ext cx="2088000" cy="0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85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994EBE4-5188-4F61-FAB7-B39E5699BFB4}"/>
              </a:ext>
            </a:extLst>
          </p:cNvPr>
          <p:cNvGrpSpPr/>
          <p:nvPr/>
        </p:nvGrpSpPr>
        <p:grpSpPr>
          <a:xfrm>
            <a:off x="8869253" y="459110"/>
            <a:ext cx="2582792" cy="2308040"/>
            <a:chOff x="8860271" y="523304"/>
            <a:chExt cx="2582792" cy="23080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FEF210-70A4-016D-7F76-F0A0F37A1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4630" y="523304"/>
              <a:ext cx="1668433" cy="143008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5A6E6F-EDF5-D6D1-25B6-AB1D52C71596}"/>
                </a:ext>
              </a:extLst>
            </p:cNvPr>
            <p:cNvSpPr txBox="1"/>
            <p:nvPr/>
          </p:nvSpPr>
          <p:spPr>
            <a:xfrm>
              <a:off x="8860271" y="1261684"/>
              <a:ext cx="57259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600" dirty="0"/>
                <a:t>{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BA192F-DFEA-D99C-3510-5DA4FC59E82F}"/>
                </a:ext>
              </a:extLst>
            </p:cNvPr>
            <p:cNvSpPr txBox="1"/>
            <p:nvPr/>
          </p:nvSpPr>
          <p:spPr>
            <a:xfrm>
              <a:off x="9307836" y="1471748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2%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7D84A4E-2DF9-E5F2-E4C6-5D729A950A07}"/>
              </a:ext>
            </a:extLst>
          </p:cNvPr>
          <p:cNvSpPr txBox="1"/>
          <p:nvPr/>
        </p:nvSpPr>
        <p:spPr>
          <a:xfrm>
            <a:off x="654507" y="3851802"/>
            <a:ext cx="118349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When a community catalogue refers a sale to a merchant</a:t>
            </a:r>
          </a:p>
          <a:p>
            <a:r>
              <a:rPr lang="en-GB" sz="3600" dirty="0"/>
              <a:t>both the community </a:t>
            </a:r>
          </a:p>
          <a:p>
            <a:r>
              <a:rPr lang="en-GB" sz="3600" dirty="0"/>
              <a:t>and the referring partner </a:t>
            </a:r>
          </a:p>
          <a:p>
            <a:r>
              <a:rPr lang="en-GB" sz="3600" dirty="0"/>
              <a:t>receive 2% commission, automatically, via stripe.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77A479-A1C2-3180-24FE-183CAC449591}"/>
              </a:ext>
            </a:extLst>
          </p:cNvPr>
          <p:cNvGrpSpPr/>
          <p:nvPr/>
        </p:nvGrpSpPr>
        <p:grpSpPr>
          <a:xfrm>
            <a:off x="772335" y="161874"/>
            <a:ext cx="8869253" cy="2860169"/>
            <a:chOff x="563611" y="568831"/>
            <a:chExt cx="8869253" cy="28601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A5CE35B-6D0A-C9EA-14A0-DEC912926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611" y="758036"/>
              <a:ext cx="2763063" cy="236834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38E755-6B61-09A8-BBBD-59564E979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568831"/>
              <a:ext cx="3336864" cy="2860169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1376A46-F23C-43D8-980F-0A3AA9C8D1F5}"/>
                </a:ext>
              </a:extLst>
            </p:cNvPr>
            <p:cNvCxnSpPr/>
            <p:nvPr/>
          </p:nvCxnSpPr>
          <p:spPr>
            <a:xfrm>
              <a:off x="3709851" y="2046514"/>
              <a:ext cx="2088000" cy="0"/>
            </a:xfrm>
            <a:prstGeom prst="straightConnector1">
              <a:avLst/>
            </a:prstGeom>
            <a:ln>
              <a:tailEnd type="triangle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3A4949-B7DB-A9C7-6742-C630295B22D0}"/>
                </a:ext>
              </a:extLst>
            </p:cNvPr>
            <p:cNvSpPr txBox="1"/>
            <p:nvPr/>
          </p:nvSpPr>
          <p:spPr>
            <a:xfrm>
              <a:off x="4469157" y="2102963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E6F61"/>
                  </a:solidFill>
                </a:rPr>
                <a:t>Sale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2D2635-2435-5F17-B3B2-11BC49662C45}"/>
              </a:ext>
            </a:extLst>
          </p:cNvPr>
          <p:cNvGrpSpPr/>
          <p:nvPr/>
        </p:nvGrpSpPr>
        <p:grpSpPr>
          <a:xfrm>
            <a:off x="9307836" y="2155456"/>
            <a:ext cx="2201927" cy="1430085"/>
            <a:chOff x="9307836" y="2155456"/>
            <a:chExt cx="2201927" cy="143008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1075A7-8771-180A-EEC9-10FA89007F00}"/>
                </a:ext>
              </a:extLst>
            </p:cNvPr>
            <p:cNvSpPr txBox="1"/>
            <p:nvPr/>
          </p:nvSpPr>
          <p:spPr>
            <a:xfrm>
              <a:off x="9307836" y="2388929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2%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0B17088-062D-F393-3BA4-3813679CF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1330" y="2155456"/>
              <a:ext cx="1668433" cy="14300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818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C783C-4382-7298-9F21-1D3ACA045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89" y="284461"/>
            <a:ext cx="3337748" cy="2860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5385B1-034A-CD53-1BF7-8F1360962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633" y="284461"/>
            <a:ext cx="3334215" cy="2857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85AC8-1DF8-BF13-2AE9-040672654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69" y="284461"/>
            <a:ext cx="3337748" cy="28609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E35F-0ACD-4F66-299B-600EF0121FCC}"/>
              </a:ext>
            </a:extLst>
          </p:cNvPr>
          <p:cNvSpPr txBox="1"/>
          <p:nvPr/>
        </p:nvSpPr>
        <p:spPr>
          <a:xfrm>
            <a:off x="391288" y="3464996"/>
            <a:ext cx="116869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When a community partner has onboarded 20 qualifying communities</a:t>
            </a:r>
          </a:p>
          <a:p>
            <a:r>
              <a:rPr lang="en-GB" sz="2800" dirty="0"/>
              <a:t>they receive 2 free partner invites.</a:t>
            </a:r>
          </a:p>
          <a:p>
            <a:r>
              <a:rPr lang="en-GB" sz="2800" dirty="0"/>
              <a:t>Community partners get one additional partner invite for every 10 additional onboarded communities.</a:t>
            </a:r>
          </a:p>
          <a:p>
            <a:r>
              <a:rPr lang="en-GB" sz="2800" dirty="0"/>
              <a:t>Inviting new partners allows you to increase the number of communities buying from your merchants, and the number of merchants selling to your communities.</a:t>
            </a:r>
          </a:p>
        </p:txBody>
      </p:sp>
    </p:spTree>
    <p:extLst>
      <p:ext uri="{BB962C8B-B14F-4D97-AF65-F5344CB8AC3E}">
        <p14:creationId xmlns:p14="http://schemas.microsoft.com/office/powerpoint/2010/main" val="263322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A4855A7-2C24-0AE4-EBA2-232AE0227324}"/>
              </a:ext>
            </a:extLst>
          </p:cNvPr>
          <p:cNvSpPr txBox="1"/>
          <p:nvPr/>
        </p:nvSpPr>
        <p:spPr>
          <a:xfrm>
            <a:off x="357051" y="4267200"/>
            <a:ext cx="118349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When the merchant and community of a referred sale belong to different community partners</a:t>
            </a:r>
          </a:p>
          <a:p>
            <a:r>
              <a:rPr lang="en-GB" sz="3600" dirty="0"/>
              <a:t>the commission is split between them.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DBBEA8-DF7F-1450-3035-FE1B32903D3B}"/>
              </a:ext>
            </a:extLst>
          </p:cNvPr>
          <p:cNvGrpSpPr/>
          <p:nvPr/>
        </p:nvGrpSpPr>
        <p:grpSpPr>
          <a:xfrm>
            <a:off x="1729775" y="327196"/>
            <a:ext cx="9089499" cy="2860169"/>
            <a:chOff x="-230231" y="512121"/>
            <a:chExt cx="9089499" cy="286016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16098E3-4242-148F-AAD8-8D98EC57F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0835" y="746227"/>
              <a:ext cx="1668433" cy="143008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51C112-74F2-D8E3-0E3F-93EB8B78FA2D}"/>
                </a:ext>
              </a:extLst>
            </p:cNvPr>
            <p:cNvSpPr txBox="1"/>
            <p:nvPr/>
          </p:nvSpPr>
          <p:spPr>
            <a:xfrm>
              <a:off x="6412524" y="1495790"/>
              <a:ext cx="57259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600" dirty="0"/>
                <a:t>{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6595E5-6616-E680-F933-B2880EF2E4C6}"/>
                </a:ext>
              </a:extLst>
            </p:cNvPr>
            <p:cNvSpPr txBox="1"/>
            <p:nvPr/>
          </p:nvSpPr>
          <p:spPr>
            <a:xfrm>
              <a:off x="6835363" y="1705854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2%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9187B36-1968-A727-C8C5-5D8A5B0063DE}"/>
                </a:ext>
              </a:extLst>
            </p:cNvPr>
            <p:cNvGrpSpPr/>
            <p:nvPr/>
          </p:nvGrpSpPr>
          <p:grpSpPr>
            <a:xfrm>
              <a:off x="-230231" y="512121"/>
              <a:ext cx="7655473" cy="2860169"/>
              <a:chOff x="563611" y="512121"/>
              <a:chExt cx="7655473" cy="286016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EE217F6-8E9D-CFE5-56AB-C55ACF99DF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3611" y="758036"/>
                <a:ext cx="2763063" cy="236834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8785C02-9D26-9E65-BD10-38BBCA8F2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82220" y="512121"/>
                <a:ext cx="3336864" cy="2860169"/>
              </a:xfrm>
              <a:prstGeom prst="rect">
                <a:avLst/>
              </a:prstGeom>
            </p:spPr>
          </p:pic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C18324F-67E8-D81F-FCC7-7EF17AE810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9851" y="2046514"/>
                <a:ext cx="984069" cy="0"/>
              </a:xfrm>
              <a:prstGeom prst="straightConnector1">
                <a:avLst/>
              </a:prstGeom>
              <a:ln>
                <a:tailEnd type="triangle"/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FC66FD-E3B3-0F21-2C8B-BF8927D067D4}"/>
                  </a:ext>
                </a:extLst>
              </p:cNvPr>
              <p:cNvSpPr txBox="1"/>
              <p:nvPr/>
            </p:nvSpPr>
            <p:spPr>
              <a:xfrm>
                <a:off x="3917191" y="2046514"/>
                <a:ext cx="569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E6F61"/>
                    </a:solidFill>
                  </a:rPr>
                  <a:t>Sale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D33847-09E7-EF42-451E-D8F4FBA753AF}"/>
              </a:ext>
            </a:extLst>
          </p:cNvPr>
          <p:cNvGrpSpPr/>
          <p:nvPr/>
        </p:nvGrpSpPr>
        <p:grpSpPr>
          <a:xfrm>
            <a:off x="9252210" y="1814118"/>
            <a:ext cx="2251132" cy="2161237"/>
            <a:chOff x="9252210" y="1814118"/>
            <a:chExt cx="2251132" cy="2161237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0051C21-41FB-F764-79B6-D72BCDB41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8204" y="2965300"/>
              <a:ext cx="1178398" cy="101005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990CE45-B055-5CC7-C5E7-B224FEEAA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20691" y="1942414"/>
              <a:ext cx="1178398" cy="101005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9520B8-646F-80A9-F0F4-457CBBA411F4}"/>
                </a:ext>
              </a:extLst>
            </p:cNvPr>
            <p:cNvSpPr txBox="1"/>
            <p:nvPr/>
          </p:nvSpPr>
          <p:spPr>
            <a:xfrm>
              <a:off x="9252210" y="1814118"/>
              <a:ext cx="57259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600" dirty="0"/>
                <a:t>{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EE1A29-243E-079F-FA4A-C92CFC6EF5EB}"/>
                </a:ext>
              </a:extLst>
            </p:cNvPr>
            <p:cNvSpPr txBox="1"/>
            <p:nvPr/>
          </p:nvSpPr>
          <p:spPr>
            <a:xfrm>
              <a:off x="9621409" y="201547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1%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03FDCC-5586-4387-6757-E252B97F1369}"/>
                </a:ext>
              </a:extLst>
            </p:cNvPr>
            <p:cNvSpPr txBox="1"/>
            <p:nvPr/>
          </p:nvSpPr>
          <p:spPr>
            <a:xfrm>
              <a:off x="9625756" y="2977768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1%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1B5E66-533D-52A1-93EC-6383ECF07CA2}"/>
                </a:ext>
              </a:extLst>
            </p:cNvPr>
            <p:cNvSpPr txBox="1"/>
            <p:nvPr/>
          </p:nvSpPr>
          <p:spPr>
            <a:xfrm>
              <a:off x="9920602" y="2124756"/>
              <a:ext cx="13505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Owns Merchant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617046-2F11-4408-B2B1-1AB33A642373}"/>
                </a:ext>
              </a:extLst>
            </p:cNvPr>
            <p:cNvSpPr txBox="1"/>
            <p:nvPr/>
          </p:nvSpPr>
          <p:spPr>
            <a:xfrm>
              <a:off x="10017038" y="3138142"/>
              <a:ext cx="14863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Owns Community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646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71D354-58EA-3B26-D285-D2F1CF2F7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00" y="-2"/>
            <a:ext cx="3334215" cy="2857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E51F86-206B-51DB-1B1A-118F692E9F5E}"/>
              </a:ext>
            </a:extLst>
          </p:cNvPr>
          <p:cNvSpPr txBox="1"/>
          <p:nvPr/>
        </p:nvSpPr>
        <p:spPr>
          <a:xfrm>
            <a:off x="429665" y="3144879"/>
            <a:ext cx="113326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We use affiliates to populate the categories of the community catalogue.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Commission on these sales, and sales made through our members-only Chrome extension do not have an identifiable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In order to offer communities a profit share on these sales, rebates are paid to the community pro-rata, based on their relative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E.g. If your community was responsible for 10% of the years network traffic, your community gets 10% of the annual profit share.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BAACB8-01D1-E51B-CF32-1E365A044ADA}"/>
              </a:ext>
            </a:extLst>
          </p:cNvPr>
          <p:cNvCxnSpPr/>
          <p:nvPr/>
        </p:nvCxnSpPr>
        <p:spPr>
          <a:xfrm>
            <a:off x="4554071" y="1428947"/>
            <a:ext cx="1541929" cy="0"/>
          </a:xfrm>
          <a:prstGeom prst="straightConnector1">
            <a:avLst/>
          </a:prstGeom>
          <a:ln>
            <a:solidFill>
              <a:srgbClr val="61CFFF"/>
            </a:solidFill>
            <a:tailEnd type="triangle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E4ABDC-4DB2-B896-B1F0-D11CDFC90654}"/>
              </a:ext>
            </a:extLst>
          </p:cNvPr>
          <p:cNvGrpSpPr/>
          <p:nvPr/>
        </p:nvGrpSpPr>
        <p:grpSpPr>
          <a:xfrm>
            <a:off x="6266401" y="0"/>
            <a:ext cx="5099944" cy="2857899"/>
            <a:chOff x="6266401" y="0"/>
            <a:chExt cx="5099944" cy="285789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3913DB-B63E-583E-DD67-EE67357CF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6401" y="0"/>
              <a:ext cx="3334215" cy="285789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337DE5E-F8A6-E75B-0CCA-2A215A4F6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8855" y="163253"/>
              <a:ext cx="1737490" cy="14892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46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445</Words>
  <Application>Microsoft Office PowerPoint</Application>
  <PresentationFormat>Widescreen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Club Madeira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Barnett</dc:creator>
  <cp:lastModifiedBy>Simon Barnett</cp:lastModifiedBy>
  <cp:revision>9</cp:revision>
  <dcterms:created xsi:type="dcterms:W3CDTF">2025-09-07T19:28:11Z</dcterms:created>
  <dcterms:modified xsi:type="dcterms:W3CDTF">2025-09-08T14:49:17Z</dcterms:modified>
</cp:coreProperties>
</file>